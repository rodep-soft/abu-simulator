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4F1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1066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2D152C8-99C1-BDB2-607D-9ED13E79EE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ACEB1CB0-0597-2E9F-5FCD-E740377C95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FF66145-D901-6730-0754-597CEBF549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50AC3-0F8B-475C-9FE8-B53B4EFF3AE3}" type="datetimeFigureOut">
              <a:rPr kumimoji="1" lang="ja-JP" altLang="en-US" smtClean="0"/>
              <a:t>2026/9/24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52B0143-29F9-943D-3678-A06E486BE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50C25A9-5084-DE66-4CF1-C981708BF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EC908-2441-41A7-B9C3-B469A13594F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403755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9A01D68-4423-A632-5796-D0BF4C138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EC3A127-672A-C2C1-1C3E-E97218277A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F8E0644-E650-7E08-5245-9F01593512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50AC3-0F8B-475C-9FE8-B53B4EFF3AE3}" type="datetimeFigureOut">
              <a:rPr kumimoji="1" lang="ja-JP" altLang="en-US" smtClean="0"/>
              <a:t>2026/9/24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16EF700-9B6B-7000-778D-D417AAA82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144AEA2-9E40-8CC9-D72C-87CB4182C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EC908-2441-41A7-B9C3-B469A13594F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106763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951CAFA-3279-FE3B-FA16-8576F40B6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FADAFCF-5EA5-339E-578D-BAECC1718F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80A4FBD-8B2D-5B0B-BA31-DD2138584A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50AC3-0F8B-475C-9FE8-B53B4EFF3AE3}" type="datetimeFigureOut">
              <a:rPr kumimoji="1" lang="ja-JP" altLang="en-US" smtClean="0"/>
              <a:t>2026/9/24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E72E2AB-C676-8650-A071-28BDBB71D6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CEBBD35-72DA-9318-66E9-0BADE426C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EC908-2441-41A7-B9C3-B469A13594F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676002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2A49719-B992-6432-1BBC-12EB37795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EE3866B-B9A5-5721-BAE0-D15309EC5B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65E3B53-6DE1-87CC-89D2-B3E1596557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C346CAB-DFC8-83FD-8962-9973751B4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50AC3-0F8B-475C-9FE8-B53B4EFF3AE3}" type="datetimeFigureOut">
              <a:rPr kumimoji="1" lang="ja-JP" altLang="en-US" smtClean="0"/>
              <a:t>2026/9/24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35785E7-F380-3C67-89A8-5EA65995A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A9F2DE8-70D5-B0F9-A3EF-EB01CBF9A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EC908-2441-41A7-B9C3-B469A13594F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068130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BDC50D4-2B73-6518-2A8E-7A3DF6055A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348FC93-2198-4D60-A928-A5785D0EE9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8764685-2AEF-4C2A-08FD-D9B757BCD4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0DBFD2F7-311E-AD4A-1C29-45F88002CF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126A8D11-35C7-761D-0E37-7C1B0CA404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325800AB-28C3-1418-ED19-CC54666DEC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50AC3-0F8B-475C-9FE8-B53B4EFF3AE3}" type="datetimeFigureOut">
              <a:rPr kumimoji="1" lang="ja-JP" altLang="en-US" smtClean="0"/>
              <a:t>2026/9/24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4DB8029E-1E04-9ECE-6ACF-6A34CABBFF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F1FA3235-048B-3206-4DD0-2C8DA39A3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EC908-2441-41A7-B9C3-B469A13594F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553477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5A3F64-AD28-F0B1-0A9E-E35148AA1A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4E900B61-AB98-C0AA-2EBC-732924B47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50AC3-0F8B-475C-9FE8-B53B4EFF3AE3}" type="datetimeFigureOut">
              <a:rPr kumimoji="1" lang="ja-JP" altLang="en-US" smtClean="0"/>
              <a:t>2026/9/24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7F92709A-9FE5-0A7D-A5AB-1C970226A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C0E9EE55-B914-6C3F-6E63-5F0E7334E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EC908-2441-41A7-B9C3-B469A13594F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832660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A0A40AB5-781B-F509-9C4E-CBB14000C1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50AC3-0F8B-475C-9FE8-B53B4EFF3AE3}" type="datetimeFigureOut">
              <a:rPr kumimoji="1" lang="ja-JP" altLang="en-US" smtClean="0"/>
              <a:t>2026/9/24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03BCC096-5E51-1E64-3EF7-E982568A28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2EE32DB-EA93-E5D7-C619-EFB4A9AB8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EC908-2441-41A7-B9C3-B469A13594F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468178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701DC01-CDD9-3713-C55A-81CFF009A3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FB235CF-DA58-BBB8-1748-2C48845C3F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5DE8751-FA3D-5E72-9C73-7C8138EB1D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442BCA1-24F6-60F7-F20C-7C703EF0C6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50AC3-0F8B-475C-9FE8-B53B4EFF3AE3}" type="datetimeFigureOut">
              <a:rPr kumimoji="1" lang="ja-JP" altLang="en-US" smtClean="0"/>
              <a:t>2026/9/24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7FB5EA9-C870-3F0D-A341-6CDE5CD35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7420CF1-8032-B730-BBA0-4671149E4D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EC908-2441-41A7-B9C3-B469A13594F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424600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034C3A8-FA15-B7A8-BC25-7C49F71F99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08F003F3-D47E-1760-1B8C-B6E9DCE4FA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1AEAC27-A8C7-8FDC-F2B6-B3BD8AABF6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B7F3C09-2960-7758-5268-ABC815612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50AC3-0F8B-475C-9FE8-B53B4EFF3AE3}" type="datetimeFigureOut">
              <a:rPr kumimoji="1" lang="ja-JP" altLang="en-US" smtClean="0"/>
              <a:t>2026/9/24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A6BC055-E04A-A608-D6AF-73259DB06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AB3049B-0367-B9EF-B782-5FEEEF75E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EC908-2441-41A7-B9C3-B469A13594F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425079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20520F8-7645-8D3D-F95C-57D8A67816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35DCED7-AC6F-7354-62E0-D9477CD526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9B96E31-9E26-4087-5587-C137EAFF97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50AC3-0F8B-475C-9FE8-B53B4EFF3AE3}" type="datetimeFigureOut">
              <a:rPr kumimoji="1" lang="ja-JP" altLang="en-US" smtClean="0"/>
              <a:t>2026/9/24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939C570-17D6-BC83-E62C-2AF3266115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3F214D6-C15E-D1EF-9E61-1D4B71B27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EC908-2441-41A7-B9C3-B469A13594F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062045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978D9AE9-5EB9-8DE7-4A6A-107B611A4E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18E762F-DB41-1A2B-1FE4-7868A303C3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ADA79DD-0001-F26D-AB8D-1A078DA23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50AC3-0F8B-475C-9FE8-B53B4EFF3AE3}" type="datetimeFigureOut">
              <a:rPr kumimoji="1" lang="ja-JP" altLang="en-US" smtClean="0"/>
              <a:t>2026/9/24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92AC37F-BBE6-164F-5873-BAB72086A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706F856-979D-111C-62FA-EE50D2E09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EC908-2441-41A7-B9C3-B469A13594F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351941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6F764E10-637D-7732-7E24-3588E0FDDE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8CEF6DA-C1FA-9F86-929F-E0EBF336B0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2F5B07C-0C6C-C99A-1040-4F8CE71D53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350AC3-0F8B-475C-9FE8-B53B4EFF3AE3}" type="datetimeFigureOut">
              <a:rPr kumimoji="1" lang="ja-JP" altLang="en-US" smtClean="0"/>
              <a:t>2026/9/24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2A115F2-90CD-5880-2077-5F8A9D1B78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4935CC-04C9-BD6C-79C6-42ECDB2CD2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AEC908-2441-41A7-B9C3-B469A13594F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619297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37C20C66-18FD-4F30-E278-23BA8311AA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63"/>
            <a:ext cx="6901543" cy="6855037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6E232701-A9E0-77AC-1461-FFAC9FDA6BA6}"/>
              </a:ext>
            </a:extLst>
          </p:cNvPr>
          <p:cNvSpPr txBox="1"/>
          <p:nvPr/>
        </p:nvSpPr>
        <p:spPr>
          <a:xfrm>
            <a:off x="175471" y="6368143"/>
            <a:ext cx="4023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>
                <a:solidFill>
                  <a:schemeClr val="bg1"/>
                </a:solidFill>
                <a:latin typeface="コーポレート・ロゴ（ラウンド）ver3 Bold" panose="02000600000000000000" pitchFamily="50" charset="-128"/>
                <a:ea typeface="コーポレート・ロゴ（ラウンド）ver3 Bold" panose="02000600000000000000" pitchFamily="50" charset="-128"/>
              </a:rPr>
              <a:t>①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B0D6A3BD-BBAB-AAB7-5414-08C6AFB867FC}"/>
              </a:ext>
            </a:extLst>
          </p:cNvPr>
          <p:cNvSpPr txBox="1"/>
          <p:nvPr/>
        </p:nvSpPr>
        <p:spPr>
          <a:xfrm>
            <a:off x="659341" y="6368143"/>
            <a:ext cx="4023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>
                <a:solidFill>
                  <a:schemeClr val="bg1"/>
                </a:solidFill>
                <a:latin typeface="コーポレート・ロゴ（ラウンド）ver3 Bold" panose="02000600000000000000" pitchFamily="50" charset="-128"/>
                <a:ea typeface="コーポレート・ロゴ（ラウンド）ver3 Bold" panose="02000600000000000000" pitchFamily="50" charset="-128"/>
              </a:rPr>
              <a:t>②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8CFFC523-4CFC-C674-24E5-348D6415F343}"/>
              </a:ext>
            </a:extLst>
          </p:cNvPr>
          <p:cNvSpPr txBox="1"/>
          <p:nvPr/>
        </p:nvSpPr>
        <p:spPr>
          <a:xfrm>
            <a:off x="5894826" y="6368143"/>
            <a:ext cx="4023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>
                <a:solidFill>
                  <a:schemeClr val="bg1"/>
                </a:solidFill>
                <a:latin typeface="コーポレート・ロゴ（ラウンド）ver3 Bold" panose="02000600000000000000" pitchFamily="50" charset="-128"/>
                <a:ea typeface="コーポレート・ロゴ（ラウンド）ver3 Bold" panose="02000600000000000000" pitchFamily="50" charset="-128"/>
              </a:rPr>
              <a:t>③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94344A67-53AE-956A-1758-AF85624A8CEA}"/>
              </a:ext>
            </a:extLst>
          </p:cNvPr>
          <p:cNvSpPr txBox="1"/>
          <p:nvPr/>
        </p:nvSpPr>
        <p:spPr>
          <a:xfrm>
            <a:off x="6338782" y="6368143"/>
            <a:ext cx="4023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>
                <a:solidFill>
                  <a:schemeClr val="bg1"/>
                </a:solidFill>
                <a:latin typeface="コーポレート・ロゴ（ラウンド）ver3 Bold" panose="02000600000000000000" pitchFamily="50" charset="-128"/>
                <a:ea typeface="コーポレート・ロゴ（ラウンド）ver3 Bold" panose="02000600000000000000" pitchFamily="50" charset="-128"/>
              </a:rPr>
              <a:t>④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2B218840-3376-5DA2-E163-C14F574A174C}"/>
              </a:ext>
            </a:extLst>
          </p:cNvPr>
          <p:cNvSpPr txBox="1"/>
          <p:nvPr/>
        </p:nvSpPr>
        <p:spPr>
          <a:xfrm>
            <a:off x="7402286" y="4180114"/>
            <a:ext cx="42672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>
                <a:latin typeface="コーポレート・ロゴ（ラウンド）ver3 Bold" panose="02000600000000000000" pitchFamily="50" charset="-128"/>
                <a:ea typeface="コーポレート・ロゴ（ラウンド）ver3 Bold" panose="02000600000000000000" pitchFamily="50" charset="-128"/>
              </a:rPr>
              <a:t>①：赤チーム</a:t>
            </a:r>
            <a:r>
              <a:rPr kumimoji="1" lang="en-US" altLang="ja-JP" sz="2400" dirty="0">
                <a:latin typeface="コーポレート・ロゴ（ラウンド）ver3 Bold" panose="02000600000000000000" pitchFamily="50" charset="-128"/>
                <a:ea typeface="コーポレート・ロゴ（ラウンド）ver3 Bold" panose="02000600000000000000" pitchFamily="50" charset="-128"/>
              </a:rPr>
              <a:t>TR</a:t>
            </a:r>
            <a:r>
              <a:rPr kumimoji="1" lang="ja-JP" altLang="en-US" sz="2400" dirty="0">
                <a:latin typeface="コーポレート・ロゴ（ラウンド）ver3 Bold" panose="02000600000000000000" pitchFamily="50" charset="-128"/>
                <a:ea typeface="コーポレート・ロゴ（ラウンド）ver3 Bold" panose="02000600000000000000" pitchFamily="50" charset="-128"/>
              </a:rPr>
              <a:t>スタートエリア</a:t>
            </a:r>
            <a:endParaRPr kumimoji="1" lang="en-US" altLang="ja-JP" sz="2400" dirty="0">
              <a:latin typeface="コーポレート・ロゴ（ラウンド）ver3 Bold" panose="02000600000000000000" pitchFamily="50" charset="-128"/>
              <a:ea typeface="コーポレート・ロゴ（ラウンド）ver3 Bold" panose="02000600000000000000" pitchFamily="50" charset="-128"/>
            </a:endParaRPr>
          </a:p>
          <a:p>
            <a:r>
              <a:rPr lang="ja-JP" altLang="en-US" sz="2400" dirty="0">
                <a:latin typeface="コーポレート・ロゴ（ラウンド）ver3 Bold" panose="02000600000000000000" pitchFamily="50" charset="-128"/>
                <a:ea typeface="コーポレート・ロゴ（ラウンド）ver3 Bold" panose="02000600000000000000" pitchFamily="50" charset="-128"/>
              </a:rPr>
              <a:t>②：赤チーム</a:t>
            </a:r>
            <a:r>
              <a:rPr lang="en-US" altLang="ja-JP" sz="2400" dirty="0">
                <a:latin typeface="コーポレート・ロゴ（ラウンド）ver3 Bold" panose="02000600000000000000" pitchFamily="50" charset="-128"/>
                <a:ea typeface="コーポレート・ロゴ（ラウンド）ver3 Bold" panose="02000600000000000000" pitchFamily="50" charset="-128"/>
              </a:rPr>
              <a:t>BR</a:t>
            </a:r>
            <a:r>
              <a:rPr lang="ja-JP" altLang="en-US" sz="2400" dirty="0">
                <a:latin typeface="コーポレート・ロゴ（ラウンド）ver3 Bold" panose="02000600000000000000" pitchFamily="50" charset="-128"/>
                <a:ea typeface="コーポレート・ロゴ（ラウンド）ver3 Bold" panose="02000600000000000000" pitchFamily="50" charset="-128"/>
              </a:rPr>
              <a:t>スタートエリア</a:t>
            </a:r>
            <a:endParaRPr lang="en-US" altLang="ja-JP" sz="2400" dirty="0">
              <a:latin typeface="コーポレート・ロゴ（ラウンド）ver3 Bold" panose="02000600000000000000" pitchFamily="50" charset="-128"/>
              <a:ea typeface="コーポレート・ロゴ（ラウンド）ver3 Bold" panose="02000600000000000000" pitchFamily="50" charset="-128"/>
            </a:endParaRPr>
          </a:p>
          <a:p>
            <a:endParaRPr kumimoji="1" lang="en-US" altLang="ja-JP" sz="2400" dirty="0">
              <a:latin typeface="コーポレート・ロゴ（ラウンド）ver3 Bold" panose="02000600000000000000" pitchFamily="50" charset="-128"/>
              <a:ea typeface="コーポレート・ロゴ（ラウンド）ver3 Bold" panose="02000600000000000000" pitchFamily="50" charset="-128"/>
            </a:endParaRPr>
          </a:p>
          <a:p>
            <a:r>
              <a:rPr lang="ja-JP" altLang="en-US" sz="2400" dirty="0">
                <a:latin typeface="コーポレート・ロゴ（ラウンド）ver3 Bold" panose="02000600000000000000" pitchFamily="50" charset="-128"/>
                <a:ea typeface="コーポレート・ロゴ（ラウンド）ver3 Bold" panose="02000600000000000000" pitchFamily="50" charset="-128"/>
              </a:rPr>
              <a:t>③：青チーム</a:t>
            </a:r>
            <a:r>
              <a:rPr lang="en-US" altLang="ja-JP" sz="2400" dirty="0">
                <a:latin typeface="コーポレート・ロゴ（ラウンド）ver3 Bold" panose="02000600000000000000" pitchFamily="50" charset="-128"/>
                <a:ea typeface="コーポレート・ロゴ（ラウンド）ver3 Bold" panose="02000600000000000000" pitchFamily="50" charset="-128"/>
              </a:rPr>
              <a:t>BR</a:t>
            </a:r>
            <a:r>
              <a:rPr lang="ja-JP" altLang="en-US" sz="2400" dirty="0">
                <a:latin typeface="コーポレート・ロゴ（ラウンド）ver3 Bold" panose="02000600000000000000" pitchFamily="50" charset="-128"/>
                <a:ea typeface="コーポレート・ロゴ（ラウンド）ver3 Bold" panose="02000600000000000000" pitchFamily="50" charset="-128"/>
              </a:rPr>
              <a:t>スタートエリア</a:t>
            </a:r>
            <a:endParaRPr lang="en-US" altLang="ja-JP" sz="2400" dirty="0">
              <a:latin typeface="コーポレート・ロゴ（ラウンド）ver3 Bold" panose="02000600000000000000" pitchFamily="50" charset="-128"/>
              <a:ea typeface="コーポレート・ロゴ（ラウンド）ver3 Bold" panose="02000600000000000000" pitchFamily="50" charset="-128"/>
            </a:endParaRPr>
          </a:p>
          <a:p>
            <a:r>
              <a:rPr kumimoji="1" lang="ja-JP" altLang="en-US" sz="2400" dirty="0">
                <a:latin typeface="コーポレート・ロゴ（ラウンド）ver3 Bold" panose="02000600000000000000" pitchFamily="50" charset="-128"/>
                <a:ea typeface="コーポレート・ロゴ（ラウンド）ver3 Bold" panose="02000600000000000000" pitchFamily="50" charset="-128"/>
              </a:rPr>
              <a:t>④：青チーム</a:t>
            </a:r>
            <a:r>
              <a:rPr kumimoji="1" lang="en-US" altLang="ja-JP" sz="2400" dirty="0">
                <a:latin typeface="コーポレート・ロゴ（ラウンド）ver3 Bold" panose="02000600000000000000" pitchFamily="50" charset="-128"/>
                <a:ea typeface="コーポレート・ロゴ（ラウンド）ver3 Bold" panose="02000600000000000000" pitchFamily="50" charset="-128"/>
              </a:rPr>
              <a:t>TR</a:t>
            </a:r>
            <a:r>
              <a:rPr kumimoji="1" lang="ja-JP" altLang="en-US" sz="2400" dirty="0">
                <a:latin typeface="コーポレート・ロゴ（ラウンド）ver3 Bold" panose="02000600000000000000" pitchFamily="50" charset="-128"/>
                <a:ea typeface="コーポレート・ロゴ（ラウンド）ver3 Bold" panose="02000600000000000000" pitchFamily="50" charset="-128"/>
              </a:rPr>
              <a:t>スタートエリア</a:t>
            </a:r>
          </a:p>
        </p:txBody>
      </p:sp>
    </p:spTree>
    <p:extLst>
      <p:ext uri="{BB962C8B-B14F-4D97-AF65-F5344CB8AC3E}">
        <p14:creationId xmlns:p14="http://schemas.microsoft.com/office/powerpoint/2010/main" val="6164565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84A7F3-738D-1257-D5EF-0798A79199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E24C57D2-D31C-10EC-6E4E-83131C858B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63"/>
            <a:ext cx="6901543" cy="6855037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23A0B2E8-0BFA-8338-508C-2B526395FBF0}"/>
              </a:ext>
            </a:extLst>
          </p:cNvPr>
          <p:cNvSpPr txBox="1"/>
          <p:nvPr/>
        </p:nvSpPr>
        <p:spPr>
          <a:xfrm>
            <a:off x="1191471" y="4068354"/>
            <a:ext cx="4023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>
                <a:solidFill>
                  <a:schemeClr val="bg1"/>
                </a:solidFill>
                <a:latin typeface="コーポレート・ロゴ（ラウンド）ver3 Bold" panose="02000600000000000000" pitchFamily="50" charset="-128"/>
                <a:ea typeface="コーポレート・ロゴ（ラウンド）ver3 Bold" panose="02000600000000000000" pitchFamily="50" charset="-128"/>
              </a:rPr>
              <a:t>①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DBFB52E0-C1C3-A346-3D9C-03C48FE54179}"/>
              </a:ext>
            </a:extLst>
          </p:cNvPr>
          <p:cNvSpPr txBox="1"/>
          <p:nvPr/>
        </p:nvSpPr>
        <p:spPr>
          <a:xfrm>
            <a:off x="5353261" y="4068354"/>
            <a:ext cx="4023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>
                <a:solidFill>
                  <a:schemeClr val="bg1"/>
                </a:solidFill>
                <a:latin typeface="コーポレート・ロゴ（ラウンド）ver3 Bold" panose="02000600000000000000" pitchFamily="50" charset="-128"/>
                <a:ea typeface="コーポレート・ロゴ（ラウンド）ver3 Bold" panose="02000600000000000000" pitchFamily="50" charset="-128"/>
              </a:rPr>
              <a:t>②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FB989655-D53F-3D2B-3F9D-ED63CF30B44B}"/>
              </a:ext>
            </a:extLst>
          </p:cNvPr>
          <p:cNvSpPr txBox="1"/>
          <p:nvPr/>
        </p:nvSpPr>
        <p:spPr>
          <a:xfrm>
            <a:off x="6901543" y="1396274"/>
            <a:ext cx="5290457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>
                <a:latin typeface="コーポレート・ロゴ（ラウンド）ver3 Bold" panose="02000600000000000000" pitchFamily="50" charset="-128"/>
                <a:ea typeface="コーポレート・ロゴ（ラウンド）ver3 Bold" panose="02000600000000000000" pitchFamily="50" charset="-128"/>
              </a:rPr>
              <a:t>①：赤チームボックス受け渡しエリア</a:t>
            </a:r>
            <a:endParaRPr kumimoji="1" lang="en-US" altLang="ja-JP" sz="2000" dirty="0">
              <a:latin typeface="コーポレート・ロゴ（ラウンド）ver3 Bold" panose="02000600000000000000" pitchFamily="50" charset="-128"/>
              <a:ea typeface="コーポレート・ロゴ（ラウンド）ver3 Bold" panose="02000600000000000000" pitchFamily="50" charset="-128"/>
            </a:endParaRPr>
          </a:p>
          <a:p>
            <a:r>
              <a:rPr lang="ja-JP" altLang="en-US" sz="2000" dirty="0">
                <a:latin typeface="コーポレート・ロゴ（ラウンド）ver3 Bold" panose="02000600000000000000" pitchFamily="50" charset="-128"/>
                <a:ea typeface="コーポレート・ロゴ（ラウンド）ver3 Bold" panose="02000600000000000000" pitchFamily="50" charset="-128"/>
              </a:rPr>
              <a:t>赤チームはこのエリアを介してボックスの</a:t>
            </a:r>
            <a:endParaRPr lang="en-US" altLang="ja-JP" sz="2000" dirty="0">
              <a:latin typeface="コーポレート・ロゴ（ラウンド）ver3 Bold" panose="02000600000000000000" pitchFamily="50" charset="-128"/>
              <a:ea typeface="コーポレート・ロゴ（ラウンド）ver3 Bold" panose="02000600000000000000" pitchFamily="50" charset="-128"/>
            </a:endParaRPr>
          </a:p>
          <a:p>
            <a:r>
              <a:rPr lang="ja-JP" altLang="en-US" sz="2000" dirty="0">
                <a:latin typeface="コーポレート・ロゴ（ラウンド）ver3 Bold" panose="02000600000000000000" pitchFamily="50" charset="-128"/>
                <a:ea typeface="コーポレート・ロゴ（ラウンド）ver3 Bold" panose="02000600000000000000" pitchFamily="50" charset="-128"/>
              </a:rPr>
              <a:t>やり取りを行う</a:t>
            </a:r>
            <a:endParaRPr lang="en-US" altLang="ja-JP" sz="2000" dirty="0">
              <a:latin typeface="コーポレート・ロゴ（ラウンド）ver3 Bold" panose="02000600000000000000" pitchFamily="50" charset="-128"/>
              <a:ea typeface="コーポレート・ロゴ（ラウンド）ver3 Bold" panose="02000600000000000000" pitchFamily="50" charset="-128"/>
            </a:endParaRPr>
          </a:p>
          <a:p>
            <a:r>
              <a:rPr kumimoji="1" lang="en-US" altLang="ja-JP" sz="2000" dirty="0">
                <a:latin typeface="コーポレート・ロゴ（ラウンド）ver3 Bold" panose="02000600000000000000" pitchFamily="50" charset="-128"/>
                <a:ea typeface="コーポレート・ロゴ（ラウンド）ver3 Bold" panose="02000600000000000000" pitchFamily="50" charset="-128"/>
              </a:rPr>
              <a:t>TR</a:t>
            </a:r>
            <a:r>
              <a:rPr kumimoji="1" lang="ja-JP" altLang="en-US" sz="2000" dirty="0">
                <a:latin typeface="コーポレート・ロゴ（ラウンド）ver3 Bold" panose="02000600000000000000" pitchFamily="50" charset="-128"/>
                <a:ea typeface="コーポレート・ロゴ（ラウンド）ver3 Bold" panose="02000600000000000000" pitchFamily="50" charset="-128"/>
              </a:rPr>
              <a:t>はアースブロック／スカイブロックを</a:t>
            </a:r>
            <a:r>
              <a:rPr lang="ja-JP" altLang="en-US" sz="2000" dirty="0">
                <a:latin typeface="コーポレート・ロゴ（ラウンド）ver3 Bold" panose="02000600000000000000" pitchFamily="50" charset="-128"/>
                <a:ea typeface="コーポレート・ロゴ（ラウンド）ver3 Bold" panose="02000600000000000000" pitchFamily="50" charset="-128"/>
              </a:rPr>
              <a:t>置きに行く</a:t>
            </a:r>
            <a:endParaRPr lang="en-US" altLang="ja-JP" sz="2000" dirty="0">
              <a:latin typeface="コーポレート・ロゴ（ラウンド）ver3 Bold" panose="02000600000000000000" pitchFamily="50" charset="-128"/>
              <a:ea typeface="コーポレート・ロゴ（ラウンド）ver3 Bold" panose="02000600000000000000" pitchFamily="50" charset="-128"/>
            </a:endParaRPr>
          </a:p>
          <a:p>
            <a:r>
              <a:rPr kumimoji="1" lang="en-US" altLang="ja-JP" sz="2000" dirty="0">
                <a:latin typeface="コーポレート・ロゴ（ラウンド）ver3 Bold" panose="02000600000000000000" pitchFamily="50" charset="-128"/>
                <a:ea typeface="コーポレート・ロゴ（ラウンド）ver3 Bold" panose="02000600000000000000" pitchFamily="50" charset="-128"/>
              </a:rPr>
              <a:t>BR</a:t>
            </a:r>
            <a:r>
              <a:rPr kumimoji="1" lang="ja-JP" altLang="en-US" sz="2000" dirty="0">
                <a:latin typeface="コーポレート・ロゴ（ラウンド）ver3 Bold" panose="02000600000000000000" pitchFamily="50" charset="-128"/>
                <a:ea typeface="コーポレート・ロゴ（ラウンド）ver3 Bold" panose="02000600000000000000" pitchFamily="50" charset="-128"/>
              </a:rPr>
              <a:t>はこのエリアから置かれたアースブロック／</a:t>
            </a:r>
            <a:endParaRPr kumimoji="1" lang="en-US" altLang="ja-JP" sz="2000" dirty="0">
              <a:latin typeface="コーポレート・ロゴ（ラウンド）ver3 Bold" panose="02000600000000000000" pitchFamily="50" charset="-128"/>
              <a:ea typeface="コーポレート・ロゴ（ラウンド）ver3 Bold" panose="02000600000000000000" pitchFamily="50" charset="-128"/>
            </a:endParaRPr>
          </a:p>
          <a:p>
            <a:r>
              <a:rPr kumimoji="1" lang="ja-JP" altLang="en-US" sz="2000" dirty="0">
                <a:latin typeface="コーポレート・ロゴ（ラウンド）ver3 Bold" panose="02000600000000000000" pitchFamily="50" charset="-128"/>
                <a:ea typeface="コーポレート・ロゴ（ラウンド）ver3 Bold" panose="02000600000000000000" pitchFamily="50" charset="-128"/>
              </a:rPr>
              <a:t>スカイブロックを受け取りに行く</a:t>
            </a:r>
            <a:endParaRPr kumimoji="1" lang="en-US" altLang="ja-JP" sz="2000" dirty="0">
              <a:latin typeface="コーポレート・ロゴ（ラウンド）ver3 Bold" panose="02000600000000000000" pitchFamily="50" charset="-128"/>
              <a:ea typeface="コーポレート・ロゴ（ラウンド）ver3 Bold" panose="02000600000000000000" pitchFamily="50" charset="-128"/>
            </a:endParaRPr>
          </a:p>
          <a:p>
            <a:endParaRPr lang="en-US" altLang="ja-JP" sz="2000" dirty="0">
              <a:latin typeface="コーポレート・ロゴ（ラウンド）ver3 Bold" panose="02000600000000000000" pitchFamily="50" charset="-128"/>
              <a:ea typeface="コーポレート・ロゴ（ラウンド）ver3 Bold" panose="02000600000000000000" pitchFamily="50" charset="-128"/>
            </a:endParaRPr>
          </a:p>
          <a:p>
            <a:r>
              <a:rPr lang="ja-JP" altLang="en-US" sz="2000" dirty="0">
                <a:latin typeface="コーポレート・ロゴ（ラウンド）ver3 Bold" panose="02000600000000000000" pitchFamily="50" charset="-128"/>
                <a:ea typeface="コーポレート・ロゴ（ラウンド）ver3 Bold" panose="02000600000000000000" pitchFamily="50" charset="-128"/>
              </a:rPr>
              <a:t>②：青チームボックス受け渡しエリア</a:t>
            </a:r>
            <a:endParaRPr lang="en-US" altLang="ja-JP" sz="2000" dirty="0">
              <a:latin typeface="コーポレート・ロゴ（ラウンド）ver3 Bold" panose="02000600000000000000" pitchFamily="50" charset="-128"/>
              <a:ea typeface="コーポレート・ロゴ（ラウンド）ver3 Bold" panose="02000600000000000000" pitchFamily="50" charset="-128"/>
            </a:endParaRPr>
          </a:p>
          <a:p>
            <a:r>
              <a:rPr lang="ja-JP" altLang="en-US" sz="2000" dirty="0">
                <a:latin typeface="コーポレート・ロゴ（ラウンド）ver3 Bold" panose="02000600000000000000" pitchFamily="50" charset="-128"/>
                <a:ea typeface="コーポレート・ロゴ（ラウンド）ver3 Bold" panose="02000600000000000000" pitchFamily="50" charset="-128"/>
              </a:rPr>
              <a:t>青チームはこのエリアを介してボックスの</a:t>
            </a:r>
            <a:endParaRPr lang="en-US" altLang="ja-JP" sz="2000" dirty="0">
              <a:latin typeface="コーポレート・ロゴ（ラウンド）ver3 Bold" panose="02000600000000000000" pitchFamily="50" charset="-128"/>
              <a:ea typeface="コーポレート・ロゴ（ラウンド）ver3 Bold" panose="02000600000000000000" pitchFamily="50" charset="-128"/>
            </a:endParaRPr>
          </a:p>
          <a:p>
            <a:r>
              <a:rPr lang="ja-JP" altLang="en-US" sz="2000" dirty="0">
                <a:latin typeface="コーポレート・ロゴ（ラウンド）ver3 Bold" panose="02000600000000000000" pitchFamily="50" charset="-128"/>
                <a:ea typeface="コーポレート・ロゴ（ラウンド）ver3 Bold" panose="02000600000000000000" pitchFamily="50" charset="-128"/>
              </a:rPr>
              <a:t>やり取りを行う</a:t>
            </a:r>
            <a:endParaRPr lang="en-US" altLang="ja-JP" sz="2000" dirty="0">
              <a:latin typeface="コーポレート・ロゴ（ラウンド）ver3 Bold" panose="02000600000000000000" pitchFamily="50" charset="-128"/>
              <a:ea typeface="コーポレート・ロゴ（ラウンド）ver3 Bold" panose="02000600000000000000" pitchFamily="50" charset="-128"/>
            </a:endParaRPr>
          </a:p>
          <a:p>
            <a:r>
              <a:rPr lang="en-US" altLang="ja-JP" sz="2000" dirty="0">
                <a:latin typeface="コーポレート・ロゴ（ラウンド）ver3 Bold" panose="02000600000000000000" pitchFamily="50" charset="-128"/>
                <a:ea typeface="コーポレート・ロゴ（ラウンド）ver3 Bold" panose="02000600000000000000" pitchFamily="50" charset="-128"/>
              </a:rPr>
              <a:t>TR</a:t>
            </a:r>
            <a:r>
              <a:rPr lang="ja-JP" altLang="en-US" sz="2000" dirty="0">
                <a:latin typeface="コーポレート・ロゴ（ラウンド）ver3 Bold" panose="02000600000000000000" pitchFamily="50" charset="-128"/>
                <a:ea typeface="コーポレート・ロゴ（ラウンド）ver3 Bold" panose="02000600000000000000" pitchFamily="50" charset="-128"/>
              </a:rPr>
              <a:t>はアースブロック／スカイブロックを</a:t>
            </a:r>
            <a:endParaRPr lang="en-US" altLang="ja-JP" sz="2000" dirty="0">
              <a:latin typeface="コーポレート・ロゴ（ラウンド）ver3 Bold" panose="02000600000000000000" pitchFamily="50" charset="-128"/>
              <a:ea typeface="コーポレート・ロゴ（ラウンド）ver3 Bold" panose="02000600000000000000" pitchFamily="50" charset="-128"/>
            </a:endParaRPr>
          </a:p>
          <a:p>
            <a:r>
              <a:rPr lang="ja-JP" altLang="en-US" sz="2000" dirty="0">
                <a:latin typeface="コーポレート・ロゴ（ラウンド）ver3 Bold" panose="02000600000000000000" pitchFamily="50" charset="-128"/>
                <a:ea typeface="コーポレート・ロゴ（ラウンド）ver3 Bold" panose="02000600000000000000" pitchFamily="50" charset="-128"/>
              </a:rPr>
              <a:t>置きに行く</a:t>
            </a:r>
            <a:endParaRPr lang="en-US" altLang="ja-JP" sz="2000" dirty="0">
              <a:latin typeface="コーポレート・ロゴ（ラウンド）ver3 Bold" panose="02000600000000000000" pitchFamily="50" charset="-128"/>
              <a:ea typeface="コーポレート・ロゴ（ラウンド）ver3 Bold" panose="02000600000000000000" pitchFamily="50" charset="-128"/>
            </a:endParaRPr>
          </a:p>
          <a:p>
            <a:r>
              <a:rPr lang="en-US" altLang="ja-JP" sz="2000" dirty="0">
                <a:latin typeface="コーポレート・ロゴ（ラウンド）ver3 Bold" panose="02000600000000000000" pitchFamily="50" charset="-128"/>
                <a:ea typeface="コーポレート・ロゴ（ラウンド）ver3 Bold" panose="02000600000000000000" pitchFamily="50" charset="-128"/>
              </a:rPr>
              <a:t>BR</a:t>
            </a:r>
            <a:r>
              <a:rPr lang="ja-JP" altLang="en-US" sz="2000" dirty="0">
                <a:latin typeface="コーポレート・ロゴ（ラウンド）ver3 Bold" panose="02000600000000000000" pitchFamily="50" charset="-128"/>
                <a:ea typeface="コーポレート・ロゴ（ラウンド）ver3 Bold" panose="02000600000000000000" pitchFamily="50" charset="-128"/>
              </a:rPr>
              <a:t>はこのエリアから置かれたアースブロック／</a:t>
            </a:r>
            <a:endParaRPr lang="en-US" altLang="ja-JP" sz="2000" dirty="0">
              <a:latin typeface="コーポレート・ロゴ（ラウンド）ver3 Bold" panose="02000600000000000000" pitchFamily="50" charset="-128"/>
              <a:ea typeface="コーポレート・ロゴ（ラウンド）ver3 Bold" panose="02000600000000000000" pitchFamily="50" charset="-128"/>
            </a:endParaRPr>
          </a:p>
          <a:p>
            <a:r>
              <a:rPr lang="ja-JP" altLang="en-US" sz="2000" dirty="0">
                <a:latin typeface="コーポレート・ロゴ（ラウンド）ver3 Bold" panose="02000600000000000000" pitchFamily="50" charset="-128"/>
                <a:ea typeface="コーポレート・ロゴ（ラウンド）ver3 Bold" panose="02000600000000000000" pitchFamily="50" charset="-128"/>
              </a:rPr>
              <a:t>スカイブロックを受け取りに行く</a:t>
            </a:r>
          </a:p>
          <a:p>
            <a:endParaRPr kumimoji="1" lang="ja-JP" altLang="en-US" sz="2000" dirty="0">
              <a:latin typeface="コーポレート・ロゴ（ラウンド）ver3 Bold" panose="02000600000000000000" pitchFamily="50" charset="-128"/>
              <a:ea typeface="コーポレート・ロゴ（ラウンド）ver3 Bold" panose="020006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7898469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EAEC35-F44D-801C-6C9F-E693C4AFC4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AE450FAD-F0BE-9D4B-D950-E7FAF53423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63"/>
            <a:ext cx="6901543" cy="6855037"/>
          </a:xfrm>
          <a:prstGeom prst="rect">
            <a:avLst/>
          </a:prstGeom>
        </p:spPr>
      </p:pic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8190850C-9B09-7BB0-2658-A0A837BCF8B6}"/>
              </a:ext>
            </a:extLst>
          </p:cNvPr>
          <p:cNvSpPr txBox="1"/>
          <p:nvPr/>
        </p:nvSpPr>
        <p:spPr>
          <a:xfrm>
            <a:off x="6898640" y="1498600"/>
            <a:ext cx="545592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>
                <a:latin typeface="コーポレート・ロゴ（ラウンド）ver3 Bold" panose="02000600000000000000" pitchFamily="50" charset="-128"/>
                <a:ea typeface="コーポレート・ロゴ（ラウンド）ver3 Bold" panose="02000600000000000000" pitchFamily="50" charset="-128"/>
              </a:rPr>
              <a:t>①矩形囲い部</a:t>
            </a:r>
            <a:endParaRPr kumimoji="1" lang="en-US" altLang="ja-JP" sz="2400" dirty="0">
              <a:latin typeface="コーポレート・ロゴ（ラウンド）ver3 Bold" panose="02000600000000000000" pitchFamily="50" charset="-128"/>
              <a:ea typeface="コーポレート・ロゴ（ラウンド）ver3 Bold" panose="02000600000000000000" pitchFamily="50" charset="-128"/>
            </a:endParaRPr>
          </a:p>
          <a:p>
            <a:r>
              <a:rPr lang="en-US" altLang="ja-JP" sz="2400" dirty="0">
                <a:latin typeface="コーポレート・ロゴ（ラウンド）ver3 Bold" panose="02000600000000000000" pitchFamily="50" charset="-128"/>
                <a:ea typeface="コーポレート・ロゴ（ラウンド）ver3 Bold" panose="02000600000000000000" pitchFamily="50" charset="-128"/>
              </a:rPr>
              <a:t>TR</a:t>
            </a:r>
            <a:r>
              <a:rPr lang="ja-JP" altLang="en-US" sz="2400" dirty="0">
                <a:latin typeface="コーポレート・ロゴ（ラウンド）ver3 Bold" panose="02000600000000000000" pitchFamily="50" charset="-128"/>
                <a:ea typeface="コーポレート・ロゴ（ラウンド）ver3 Bold" panose="02000600000000000000" pitchFamily="50" charset="-128"/>
              </a:rPr>
              <a:t>がアースブロック及びスカイブロックを</a:t>
            </a:r>
            <a:endParaRPr lang="en-US" altLang="ja-JP" sz="2400" dirty="0">
              <a:latin typeface="コーポレート・ロゴ（ラウンド）ver3 Bold" panose="02000600000000000000" pitchFamily="50" charset="-128"/>
              <a:ea typeface="コーポレート・ロゴ（ラウンド）ver3 Bold" panose="02000600000000000000" pitchFamily="50" charset="-128"/>
            </a:endParaRPr>
          </a:p>
          <a:p>
            <a:r>
              <a:rPr kumimoji="1" lang="ja-JP" altLang="en-US" sz="2400" dirty="0">
                <a:latin typeface="コーポレート・ロゴ（ラウンド）ver3 Bold" panose="02000600000000000000" pitchFamily="50" charset="-128"/>
                <a:ea typeface="コーポレート・ロゴ（ラウンド）ver3 Bold" panose="02000600000000000000" pitchFamily="50" charset="-128"/>
              </a:rPr>
              <a:t>取得する際の移動で跨いではいけない境界</a:t>
            </a:r>
            <a:endParaRPr kumimoji="1" lang="en-US" altLang="ja-JP" sz="2400" dirty="0">
              <a:latin typeface="コーポレート・ロゴ（ラウンド）ver3 Bold" panose="02000600000000000000" pitchFamily="50" charset="-128"/>
              <a:ea typeface="コーポレート・ロゴ（ラウンド）ver3 Bold" panose="02000600000000000000" pitchFamily="50" charset="-128"/>
            </a:endParaRPr>
          </a:p>
          <a:p>
            <a:endParaRPr lang="en-US" altLang="ja-JP" sz="2400" dirty="0">
              <a:latin typeface="コーポレート・ロゴ（ラウンド）ver3 Bold" panose="02000600000000000000" pitchFamily="50" charset="-128"/>
              <a:ea typeface="コーポレート・ロゴ（ラウンド）ver3 Bold" panose="02000600000000000000" pitchFamily="50" charset="-128"/>
            </a:endParaRPr>
          </a:p>
          <a:p>
            <a:r>
              <a:rPr kumimoji="1" lang="ja-JP" altLang="en-US" sz="2400" dirty="0">
                <a:latin typeface="コーポレート・ロゴ（ラウンド）ver3 Bold" panose="02000600000000000000" pitchFamily="50" charset="-128"/>
                <a:ea typeface="コーポレート・ロゴ（ラウンド）ver3 Bold" panose="02000600000000000000" pitchFamily="50" charset="-128"/>
              </a:rPr>
              <a:t>受け渡しエリアに到達する際は，必ず坂道②</a:t>
            </a:r>
            <a:r>
              <a:rPr kumimoji="1" lang="en-US" altLang="ja-JP" sz="2400" dirty="0">
                <a:latin typeface="コーポレート・ロゴ（ラウンド）ver3 Bold" panose="02000600000000000000" pitchFamily="50" charset="-128"/>
                <a:ea typeface="コーポレート・ロゴ（ラウンド）ver3 Bold" panose="02000600000000000000" pitchFamily="50" charset="-128"/>
              </a:rPr>
              <a:t>or</a:t>
            </a:r>
            <a:r>
              <a:rPr kumimoji="1" lang="ja-JP" altLang="en-US" sz="2400" dirty="0">
                <a:latin typeface="コーポレート・ロゴ（ラウンド）ver3 Bold" panose="02000600000000000000" pitchFamily="50" charset="-128"/>
                <a:ea typeface="コーポレート・ロゴ（ラウンド）ver3 Bold" panose="02000600000000000000" pitchFamily="50" charset="-128"/>
              </a:rPr>
              <a:t>階段③を通過しなければならない</a:t>
            </a:r>
            <a:endParaRPr kumimoji="1" lang="en-US" altLang="ja-JP" sz="2400" dirty="0">
              <a:latin typeface="コーポレート・ロゴ（ラウンド）ver3 Bold" panose="02000600000000000000" pitchFamily="50" charset="-128"/>
              <a:ea typeface="コーポレート・ロゴ（ラウンド）ver3 Bold" panose="02000600000000000000" pitchFamily="50" charset="-128"/>
            </a:endParaRPr>
          </a:p>
          <a:p>
            <a:r>
              <a:rPr kumimoji="1" lang="ja-JP" altLang="en-US" sz="2400" dirty="0">
                <a:latin typeface="コーポレート・ロゴ（ラウンド）ver3 Bold" panose="02000600000000000000" pitchFamily="50" charset="-128"/>
                <a:ea typeface="コーポレート・ロゴ（ラウンド）ver3 Bold" panose="02000600000000000000" pitchFamily="50" charset="-128"/>
              </a:rPr>
              <a:t>坂道②は少し減速</a:t>
            </a:r>
            <a:endParaRPr kumimoji="1" lang="en-US" altLang="ja-JP" sz="2400" dirty="0">
              <a:latin typeface="コーポレート・ロゴ（ラウンド）ver3 Bold" panose="02000600000000000000" pitchFamily="50" charset="-128"/>
              <a:ea typeface="コーポレート・ロゴ（ラウンド）ver3 Bold" panose="02000600000000000000" pitchFamily="50" charset="-128"/>
            </a:endParaRPr>
          </a:p>
          <a:p>
            <a:r>
              <a:rPr lang="ja-JP" altLang="en-US" sz="2400" dirty="0">
                <a:latin typeface="コーポレート・ロゴ（ラウンド）ver3 Bold" panose="02000600000000000000" pitchFamily="50" charset="-128"/>
                <a:ea typeface="コーポレート・ロゴ（ラウンド）ver3 Bold" panose="02000600000000000000" pitchFamily="50" charset="-128"/>
              </a:rPr>
              <a:t>階段③は階段なので段々な動き</a:t>
            </a:r>
            <a:endParaRPr kumimoji="1" lang="ja-JP" altLang="en-US" sz="2400" dirty="0">
              <a:latin typeface="コーポレート・ロゴ（ラウンド）ver3 Bold" panose="02000600000000000000" pitchFamily="50" charset="-128"/>
              <a:ea typeface="コーポレート・ロゴ（ラウンド）ver3 Bold" panose="02000600000000000000" pitchFamily="50" charset="-128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4B2B574D-5646-5DFC-C9CA-2BF8C8A654BE}"/>
              </a:ext>
            </a:extLst>
          </p:cNvPr>
          <p:cNvSpPr/>
          <p:nvPr/>
        </p:nvSpPr>
        <p:spPr>
          <a:xfrm>
            <a:off x="894080" y="1630680"/>
            <a:ext cx="294640" cy="3596640"/>
          </a:xfrm>
          <a:prstGeom prst="rect">
            <a:avLst/>
          </a:prstGeom>
          <a:solidFill>
            <a:srgbClr val="C04F15">
              <a:alpha val="50196"/>
            </a:srgb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①</a:t>
            </a:r>
            <a:endParaRPr kumimoji="1" lang="ja-JP" altLang="en-US" dirty="0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49F6EF48-4157-17C8-2164-DFF027EB9261}"/>
              </a:ext>
            </a:extLst>
          </p:cNvPr>
          <p:cNvSpPr/>
          <p:nvPr/>
        </p:nvSpPr>
        <p:spPr>
          <a:xfrm>
            <a:off x="5709920" y="1640840"/>
            <a:ext cx="294640" cy="3596640"/>
          </a:xfrm>
          <a:prstGeom prst="rect">
            <a:avLst/>
          </a:prstGeom>
          <a:solidFill>
            <a:schemeClr val="accent1">
              <a:lumMod val="40000"/>
              <a:lumOff val="60000"/>
              <a:alpha val="50196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①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769D9B7F-CA02-63AE-0123-F3E32105669C}"/>
              </a:ext>
            </a:extLst>
          </p:cNvPr>
          <p:cNvSpPr txBox="1"/>
          <p:nvPr/>
        </p:nvSpPr>
        <p:spPr>
          <a:xfrm>
            <a:off x="1202932" y="2837428"/>
            <a:ext cx="4023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>
                <a:solidFill>
                  <a:schemeClr val="bg1"/>
                </a:solidFill>
                <a:latin typeface="コーポレート・ロゴ（ラウンド）ver3 Bold" panose="02000600000000000000" pitchFamily="50" charset="-128"/>
                <a:ea typeface="コーポレート・ロゴ（ラウンド）ver3 Bold" panose="02000600000000000000" pitchFamily="50" charset="-128"/>
              </a:rPr>
              <a:t>②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D4D55544-327E-933E-6A2F-EB33DA62D358}"/>
              </a:ext>
            </a:extLst>
          </p:cNvPr>
          <p:cNvSpPr txBox="1"/>
          <p:nvPr/>
        </p:nvSpPr>
        <p:spPr>
          <a:xfrm>
            <a:off x="5293360" y="2837428"/>
            <a:ext cx="4023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>
                <a:solidFill>
                  <a:schemeClr val="bg1"/>
                </a:solidFill>
                <a:latin typeface="コーポレート・ロゴ（ラウンド）ver3 Bold" panose="02000600000000000000" pitchFamily="50" charset="-128"/>
                <a:ea typeface="コーポレート・ロゴ（ラウンド）ver3 Bold" panose="02000600000000000000" pitchFamily="50" charset="-128"/>
              </a:rPr>
              <a:t>②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C4BFB0E0-5CD4-FB56-5F6A-FE10C51055DB}"/>
              </a:ext>
            </a:extLst>
          </p:cNvPr>
          <p:cNvSpPr txBox="1"/>
          <p:nvPr/>
        </p:nvSpPr>
        <p:spPr>
          <a:xfrm>
            <a:off x="5293360" y="4663048"/>
            <a:ext cx="4023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>
                <a:solidFill>
                  <a:schemeClr val="bg1"/>
                </a:solidFill>
                <a:latin typeface="コーポレート・ロゴ（ラウンド）ver3 Bold" panose="02000600000000000000" pitchFamily="50" charset="-128"/>
                <a:ea typeface="コーポレート・ロゴ（ラウンド）ver3 Bold" panose="02000600000000000000" pitchFamily="50" charset="-128"/>
              </a:rPr>
              <a:t>③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76FF3322-8CE1-68C8-D08C-F7691997C3F7}"/>
              </a:ext>
            </a:extLst>
          </p:cNvPr>
          <p:cNvSpPr txBox="1"/>
          <p:nvPr/>
        </p:nvSpPr>
        <p:spPr>
          <a:xfrm>
            <a:off x="1233412" y="4658346"/>
            <a:ext cx="4023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>
                <a:solidFill>
                  <a:schemeClr val="bg1"/>
                </a:solidFill>
                <a:latin typeface="コーポレート・ロゴ（ラウンド）ver3 Bold" panose="02000600000000000000" pitchFamily="50" charset="-128"/>
                <a:ea typeface="コーポレート・ロゴ（ラウンド）ver3 Bold" panose="02000600000000000000" pitchFamily="50" charset="-128"/>
              </a:rPr>
              <a:t>③</a:t>
            </a:r>
          </a:p>
        </p:txBody>
      </p:sp>
    </p:spTree>
    <p:extLst>
      <p:ext uri="{BB962C8B-B14F-4D97-AF65-F5344CB8AC3E}">
        <p14:creationId xmlns:p14="http://schemas.microsoft.com/office/powerpoint/2010/main" val="38917120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4D5F81-0DBE-B871-9F25-89EB0CAE2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770DD5CA-99D1-784B-18E0-99F0CC3860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63"/>
            <a:ext cx="6901543" cy="6855037"/>
          </a:xfrm>
          <a:prstGeom prst="rect">
            <a:avLst/>
          </a:prstGeom>
        </p:spPr>
      </p:pic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0F4F795C-E86B-FE29-DEF2-67804A2980D1}"/>
              </a:ext>
            </a:extLst>
          </p:cNvPr>
          <p:cNvSpPr txBox="1"/>
          <p:nvPr/>
        </p:nvSpPr>
        <p:spPr>
          <a:xfrm>
            <a:off x="6901543" y="1166842"/>
            <a:ext cx="5290457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>
                <a:latin typeface="コーポレート・ロゴ（ラウンド）ver3 Bold" panose="02000600000000000000" pitchFamily="50" charset="-128"/>
                <a:ea typeface="コーポレート・ロゴ（ラウンド）ver3 Bold" panose="02000600000000000000" pitchFamily="50" charset="-128"/>
              </a:rPr>
              <a:t>①赤チーム</a:t>
            </a:r>
            <a:r>
              <a:rPr kumimoji="1" lang="en-US" altLang="ja-JP" sz="2400" dirty="0">
                <a:latin typeface="コーポレート・ロゴ（ラウンド）ver3 Bold" panose="02000600000000000000" pitchFamily="50" charset="-128"/>
                <a:ea typeface="コーポレート・ロゴ（ラウンド）ver3 Bold" panose="02000600000000000000" pitchFamily="50" charset="-128"/>
              </a:rPr>
              <a:t>BR</a:t>
            </a:r>
            <a:r>
              <a:rPr kumimoji="1" lang="ja-JP" altLang="en-US" sz="2400" dirty="0">
                <a:latin typeface="コーポレート・ロゴ（ラウンド）ver3 Bold" panose="02000600000000000000" pitchFamily="50" charset="-128"/>
                <a:ea typeface="コーポレート・ロゴ（ラウンド）ver3 Bold" panose="02000600000000000000" pitchFamily="50" charset="-128"/>
              </a:rPr>
              <a:t>見渡し場所</a:t>
            </a:r>
            <a:endParaRPr kumimoji="1" lang="en-US" altLang="ja-JP" sz="2400" dirty="0">
              <a:latin typeface="コーポレート・ロゴ（ラウンド）ver3 Bold" panose="02000600000000000000" pitchFamily="50" charset="-128"/>
              <a:ea typeface="コーポレート・ロゴ（ラウンド）ver3 Bold" panose="02000600000000000000" pitchFamily="50" charset="-128"/>
            </a:endParaRPr>
          </a:p>
          <a:p>
            <a:r>
              <a:rPr lang="ja-JP" altLang="en-US" sz="2400" dirty="0">
                <a:latin typeface="コーポレート・ロゴ（ラウンド）ver3 Bold" panose="02000600000000000000" pitchFamily="50" charset="-128"/>
                <a:ea typeface="コーポレート・ロゴ（ラウンド）ver3 Bold" panose="02000600000000000000" pitchFamily="50" charset="-128"/>
              </a:rPr>
              <a:t>赤チーム</a:t>
            </a:r>
            <a:r>
              <a:rPr lang="en-US" altLang="ja-JP" sz="2400" dirty="0">
                <a:latin typeface="コーポレート・ロゴ（ラウンド）ver3 Bold" panose="02000600000000000000" pitchFamily="50" charset="-128"/>
                <a:ea typeface="コーポレート・ロゴ（ラウンド）ver3 Bold" panose="02000600000000000000" pitchFamily="50" charset="-128"/>
              </a:rPr>
              <a:t>BR</a:t>
            </a:r>
            <a:r>
              <a:rPr lang="ja-JP" altLang="en-US" sz="2400" dirty="0">
                <a:latin typeface="コーポレート・ロゴ（ラウンド）ver3 Bold" panose="02000600000000000000" pitchFamily="50" charset="-128"/>
                <a:ea typeface="コーポレート・ロゴ（ラウンド）ver3 Bold" panose="02000600000000000000" pitchFamily="50" charset="-128"/>
              </a:rPr>
              <a:t>が動作を行うにあたり，周りの環境をカメラからとるときの場所</a:t>
            </a:r>
            <a:endParaRPr lang="en-US" altLang="ja-JP" sz="2400" dirty="0">
              <a:latin typeface="コーポレート・ロゴ（ラウンド）ver3 Bold" panose="02000600000000000000" pitchFamily="50" charset="-128"/>
              <a:ea typeface="コーポレート・ロゴ（ラウンド）ver3 Bold" panose="02000600000000000000" pitchFamily="50" charset="-128"/>
            </a:endParaRPr>
          </a:p>
          <a:p>
            <a:r>
              <a:rPr kumimoji="1" lang="ja-JP" altLang="en-US" sz="2400" dirty="0">
                <a:latin typeface="コーポレート・ロゴ（ラウンド）ver3 Bold" panose="02000600000000000000" pitchFamily="50" charset="-128"/>
                <a:ea typeface="コーポレート・ロゴ（ラウンド）ver3 Bold" panose="02000600000000000000" pitchFamily="50" charset="-128"/>
              </a:rPr>
              <a:t>動きながらだとカメラ画像がぶれてしまうので，ここで止まる</a:t>
            </a:r>
            <a:endParaRPr kumimoji="1" lang="en-US" altLang="ja-JP" sz="2400" dirty="0">
              <a:latin typeface="コーポレート・ロゴ（ラウンド）ver3 Bold" panose="02000600000000000000" pitchFamily="50" charset="-128"/>
              <a:ea typeface="コーポレート・ロゴ（ラウンド）ver3 Bold" panose="02000600000000000000" pitchFamily="50" charset="-128"/>
            </a:endParaRPr>
          </a:p>
          <a:p>
            <a:r>
              <a:rPr kumimoji="1" lang="ja-JP" altLang="en-US" sz="2400" dirty="0">
                <a:latin typeface="コーポレート・ロゴ（ラウンド）ver3 Bold" panose="02000600000000000000" pitchFamily="50" charset="-128"/>
                <a:ea typeface="コーポレート・ロゴ（ラウンド）ver3 Bold" panose="02000600000000000000" pitchFamily="50" charset="-128"/>
              </a:rPr>
              <a:t>①に来るタイミングはブロックをもってどこに行くか判断する際（つまりブロックを持ってて置く前）とブロックを置き終わって今の状況を読み取りつつ，受け取りエリアからどのブロックを取りに行くかを判断する際（つまりブロックを置き終わった後）</a:t>
            </a:r>
            <a:endParaRPr kumimoji="1" lang="en-US" altLang="ja-JP" sz="2400" dirty="0">
              <a:latin typeface="コーポレート・ロゴ（ラウンド）ver3 Bold" panose="02000600000000000000" pitchFamily="50" charset="-128"/>
              <a:ea typeface="コーポレート・ロゴ（ラウンド）ver3 Bold" panose="02000600000000000000" pitchFamily="50" charset="-128"/>
            </a:endParaRPr>
          </a:p>
          <a:p>
            <a:endParaRPr lang="en-US" altLang="ja-JP" sz="2400" dirty="0">
              <a:latin typeface="コーポレート・ロゴ（ラウンド）ver3 Bold" panose="02000600000000000000" pitchFamily="50" charset="-128"/>
              <a:ea typeface="コーポレート・ロゴ（ラウンド）ver3 Bold" panose="02000600000000000000" pitchFamily="50" charset="-128"/>
            </a:endParaRPr>
          </a:p>
          <a:p>
            <a:r>
              <a:rPr kumimoji="1" lang="ja-JP" altLang="en-US" sz="2400" dirty="0">
                <a:latin typeface="コーポレート・ロゴ（ラウンド）ver3 Bold" panose="02000600000000000000" pitchFamily="50" charset="-128"/>
                <a:ea typeface="コーポレート・ロゴ（ラウンド）ver3 Bold" panose="02000600000000000000" pitchFamily="50" charset="-128"/>
              </a:rPr>
              <a:t>②青チーム</a:t>
            </a:r>
            <a:r>
              <a:rPr kumimoji="1" lang="en-US" altLang="ja-JP" sz="2400" dirty="0">
                <a:latin typeface="コーポレート・ロゴ（ラウンド）ver3 Bold" panose="02000600000000000000" pitchFamily="50" charset="-128"/>
                <a:ea typeface="コーポレート・ロゴ（ラウンド）ver3 Bold" panose="02000600000000000000" pitchFamily="50" charset="-128"/>
              </a:rPr>
              <a:t>BR</a:t>
            </a:r>
            <a:r>
              <a:rPr kumimoji="1" lang="ja-JP" altLang="en-US" sz="2400" dirty="0">
                <a:latin typeface="コーポレート・ロゴ（ラウンド）ver3 Bold" panose="02000600000000000000" pitchFamily="50" charset="-128"/>
                <a:ea typeface="コーポレート・ロゴ（ラウンド）ver3 Bold" panose="02000600000000000000" pitchFamily="50" charset="-128"/>
              </a:rPr>
              <a:t>見渡し場所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6BE8F9D6-FAF0-12D2-55D3-CE15EEE0C1DF}"/>
              </a:ext>
            </a:extLst>
          </p:cNvPr>
          <p:cNvSpPr txBox="1"/>
          <p:nvPr/>
        </p:nvSpPr>
        <p:spPr>
          <a:xfrm>
            <a:off x="1897413" y="3244334"/>
            <a:ext cx="4023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>
                <a:solidFill>
                  <a:schemeClr val="bg1"/>
                </a:solidFill>
                <a:latin typeface="コーポレート・ロゴ（ラウンド）ver3 Bold" panose="02000600000000000000" pitchFamily="50" charset="-128"/>
                <a:ea typeface="コーポレート・ロゴ（ラウンド）ver3 Bold" panose="02000600000000000000" pitchFamily="50" charset="-128"/>
              </a:rPr>
              <a:t>①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BE983818-CF12-AE05-4405-ECC1453D2E4B}"/>
              </a:ext>
            </a:extLst>
          </p:cNvPr>
          <p:cNvSpPr txBox="1"/>
          <p:nvPr/>
        </p:nvSpPr>
        <p:spPr>
          <a:xfrm>
            <a:off x="4623921" y="3244334"/>
            <a:ext cx="4023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>
                <a:solidFill>
                  <a:schemeClr val="bg1"/>
                </a:solidFill>
                <a:latin typeface="コーポレート・ロゴ（ラウンド）ver3 Bold" panose="02000600000000000000" pitchFamily="50" charset="-128"/>
                <a:ea typeface="コーポレート・ロゴ（ラウンド）ver3 Bold" panose="02000600000000000000" pitchFamily="50" charset="-128"/>
              </a:rPr>
              <a:t>②</a:t>
            </a:r>
          </a:p>
        </p:txBody>
      </p:sp>
    </p:spTree>
    <p:extLst>
      <p:ext uri="{BB962C8B-B14F-4D97-AF65-F5344CB8AC3E}">
        <p14:creationId xmlns:p14="http://schemas.microsoft.com/office/powerpoint/2010/main" val="33387345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E8515F-5275-DAD0-DE35-2CB7E9EA77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57BF3325-5D70-E29C-987E-37C9BAED4E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63"/>
            <a:ext cx="6901543" cy="6855037"/>
          </a:xfrm>
          <a:prstGeom prst="rect">
            <a:avLst/>
          </a:prstGeom>
        </p:spPr>
      </p:pic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53A45E5D-CDEF-E93D-319C-6D2A50FA237A}"/>
              </a:ext>
            </a:extLst>
          </p:cNvPr>
          <p:cNvSpPr txBox="1"/>
          <p:nvPr/>
        </p:nvSpPr>
        <p:spPr>
          <a:xfrm>
            <a:off x="6901543" y="1166842"/>
            <a:ext cx="529045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>
                <a:latin typeface="コーポレート・ロゴ（ラウンド）ver3 Bold" panose="02000600000000000000" pitchFamily="50" charset="-128"/>
                <a:ea typeface="コーポレート・ロゴ（ラウンド）ver3 Bold" panose="02000600000000000000" pitchFamily="50" charset="-128"/>
              </a:rPr>
              <a:t>①赤チーム</a:t>
            </a:r>
            <a:r>
              <a:rPr kumimoji="1" lang="en-US" altLang="ja-JP" sz="2400" dirty="0">
                <a:latin typeface="コーポレート・ロゴ（ラウンド）ver3 Bold" panose="02000600000000000000" pitchFamily="50" charset="-128"/>
                <a:ea typeface="コーポレート・ロゴ（ラウンド）ver3 Bold" panose="02000600000000000000" pitchFamily="50" charset="-128"/>
              </a:rPr>
              <a:t>BR</a:t>
            </a:r>
            <a:r>
              <a:rPr kumimoji="1" lang="ja-JP" altLang="en-US" sz="2400" dirty="0">
                <a:latin typeface="コーポレート・ロゴ（ラウンド）ver3 Bold" panose="02000600000000000000" pitchFamily="50" charset="-128"/>
                <a:ea typeface="コーポレート・ロゴ（ラウンド）ver3 Bold" panose="02000600000000000000" pitchFamily="50" charset="-128"/>
              </a:rPr>
              <a:t> </a:t>
            </a:r>
            <a:r>
              <a:rPr kumimoji="1" lang="en-US" altLang="ja-JP" sz="2400" dirty="0">
                <a:latin typeface="コーポレート・ロゴ（ラウンド）ver3 Bold" panose="02000600000000000000" pitchFamily="50" charset="-128"/>
                <a:ea typeface="コーポレート・ロゴ（ラウンド）ver3 Bold" panose="02000600000000000000" pitchFamily="50" charset="-128"/>
              </a:rPr>
              <a:t>L2</a:t>
            </a:r>
            <a:r>
              <a:rPr kumimoji="1" lang="ja-JP" altLang="en-US" sz="2400" dirty="0">
                <a:latin typeface="コーポレート・ロゴ（ラウンド）ver3 Bold" panose="02000600000000000000" pitchFamily="50" charset="-128"/>
                <a:ea typeface="コーポレート・ロゴ（ラウンド）ver3 Bold" panose="02000600000000000000" pitchFamily="50" charset="-128"/>
              </a:rPr>
              <a:t>見渡し場所</a:t>
            </a:r>
            <a:endParaRPr kumimoji="1" lang="en-US" altLang="ja-JP" sz="2400" dirty="0">
              <a:latin typeface="コーポレート・ロゴ（ラウンド）ver3 Bold" panose="02000600000000000000" pitchFamily="50" charset="-128"/>
              <a:ea typeface="コーポレート・ロゴ（ラウンド）ver3 Bold" panose="02000600000000000000" pitchFamily="50" charset="-128"/>
            </a:endParaRPr>
          </a:p>
          <a:p>
            <a:r>
              <a:rPr lang="en-US" altLang="ja-JP" sz="2400" dirty="0">
                <a:latin typeface="コーポレート・ロゴ（ラウンド）ver3 Bold" panose="02000600000000000000" pitchFamily="50" charset="-128"/>
                <a:ea typeface="コーポレート・ロゴ（ラウンド）ver3 Bold" panose="02000600000000000000" pitchFamily="50" charset="-128"/>
              </a:rPr>
              <a:t>L1</a:t>
            </a:r>
            <a:r>
              <a:rPr lang="ja-JP" altLang="en-US" sz="2400" dirty="0">
                <a:latin typeface="コーポレート・ロゴ（ラウンド）ver3 Bold" panose="02000600000000000000" pitchFamily="50" charset="-128"/>
                <a:ea typeface="コーポレート・ロゴ（ラウンド）ver3 Bold" panose="02000600000000000000" pitchFamily="50" charset="-128"/>
              </a:rPr>
              <a:t>の見渡場所ではなく，</a:t>
            </a:r>
            <a:r>
              <a:rPr lang="en-US" altLang="ja-JP" sz="2400" dirty="0">
                <a:latin typeface="コーポレート・ロゴ（ラウンド）ver3 Bold" panose="02000600000000000000" pitchFamily="50" charset="-128"/>
                <a:ea typeface="コーポレート・ロゴ（ラウンド）ver3 Bold" panose="02000600000000000000" pitchFamily="50" charset="-128"/>
              </a:rPr>
              <a:t>L2</a:t>
            </a:r>
            <a:r>
              <a:rPr lang="ja-JP" altLang="en-US" sz="2400" dirty="0">
                <a:latin typeface="コーポレート・ロゴ（ラウンド）ver3 Bold" panose="02000600000000000000" pitchFamily="50" charset="-128"/>
                <a:ea typeface="コーポレート・ロゴ（ラウンド）ver3 Bold" panose="02000600000000000000" pitchFamily="50" charset="-128"/>
              </a:rPr>
              <a:t>の見渡場所</a:t>
            </a:r>
            <a:endParaRPr lang="en-US" altLang="ja-JP" sz="2400" dirty="0">
              <a:latin typeface="コーポレート・ロゴ（ラウンド）ver3 Bold" panose="02000600000000000000" pitchFamily="50" charset="-128"/>
              <a:ea typeface="コーポレート・ロゴ（ラウンド）ver3 Bold" panose="02000600000000000000" pitchFamily="50" charset="-128"/>
            </a:endParaRPr>
          </a:p>
          <a:p>
            <a:r>
              <a:rPr lang="ja-JP" altLang="en-US" sz="2400" dirty="0">
                <a:latin typeface="コーポレート・ロゴ（ラウンド）ver3 Bold" panose="02000600000000000000" pitchFamily="50" charset="-128"/>
                <a:ea typeface="コーポレート・ロゴ（ラウンド）ver3 Bold" panose="02000600000000000000" pitchFamily="50" charset="-128"/>
              </a:rPr>
              <a:t>試合終盤はいちいち</a:t>
            </a:r>
            <a:r>
              <a:rPr lang="en-US" altLang="ja-JP" sz="2400" dirty="0">
                <a:latin typeface="コーポレート・ロゴ（ラウンド）ver3 Bold" panose="02000600000000000000" pitchFamily="50" charset="-128"/>
                <a:ea typeface="コーポレート・ロゴ（ラウンド）ver3 Bold" panose="02000600000000000000" pitchFamily="50" charset="-128"/>
              </a:rPr>
              <a:t>L1</a:t>
            </a:r>
            <a:r>
              <a:rPr lang="ja-JP" altLang="en-US" sz="2400" dirty="0">
                <a:latin typeface="コーポレート・ロゴ（ラウンド）ver3 Bold" panose="02000600000000000000" pitchFamily="50" charset="-128"/>
                <a:ea typeface="コーポレート・ロゴ（ラウンド）ver3 Bold" panose="02000600000000000000" pitchFamily="50" charset="-128"/>
              </a:rPr>
              <a:t>で見渡していると時間消費が大きいので，</a:t>
            </a:r>
            <a:r>
              <a:rPr lang="en-US" altLang="ja-JP" sz="2400" dirty="0">
                <a:latin typeface="コーポレート・ロゴ（ラウンド）ver3 Bold" panose="02000600000000000000" pitchFamily="50" charset="-128"/>
                <a:ea typeface="コーポレート・ロゴ（ラウンド）ver3 Bold" panose="02000600000000000000" pitchFamily="50" charset="-128"/>
              </a:rPr>
              <a:t>L2</a:t>
            </a:r>
            <a:r>
              <a:rPr lang="ja-JP" altLang="en-US" sz="2400" dirty="0">
                <a:latin typeface="コーポレート・ロゴ（ラウンド）ver3 Bold" panose="02000600000000000000" pitchFamily="50" charset="-128"/>
                <a:ea typeface="コーポレート・ロゴ（ラウンド）ver3 Bold" panose="02000600000000000000" pitchFamily="50" charset="-128"/>
              </a:rPr>
              <a:t>にも見渡場所を設ける</a:t>
            </a:r>
            <a:endParaRPr lang="en-US" altLang="ja-JP" sz="2400" dirty="0">
              <a:latin typeface="コーポレート・ロゴ（ラウンド）ver3 Bold" panose="02000600000000000000" pitchFamily="50" charset="-128"/>
              <a:ea typeface="コーポレート・ロゴ（ラウンド）ver3 Bold" panose="02000600000000000000" pitchFamily="50" charset="-128"/>
            </a:endParaRPr>
          </a:p>
          <a:p>
            <a:r>
              <a:rPr lang="ja-JP" altLang="en-US" sz="2400" dirty="0">
                <a:latin typeface="コーポレート・ロゴ（ラウンド）ver3 Bold" panose="02000600000000000000" pitchFamily="50" charset="-128"/>
                <a:ea typeface="コーポレート・ロゴ（ラウンド）ver3 Bold" panose="02000600000000000000" pitchFamily="50" charset="-128"/>
              </a:rPr>
              <a:t>一方で両チームとも</a:t>
            </a:r>
            <a:r>
              <a:rPr lang="en-US" altLang="ja-JP" sz="2400" dirty="0">
                <a:latin typeface="コーポレート・ロゴ（ラウンド）ver3 Bold" panose="02000600000000000000" pitchFamily="50" charset="-128"/>
                <a:ea typeface="コーポレート・ロゴ（ラウンド）ver3 Bold" panose="02000600000000000000" pitchFamily="50" charset="-128"/>
              </a:rPr>
              <a:t>BR</a:t>
            </a:r>
            <a:r>
              <a:rPr lang="ja-JP" altLang="en-US" sz="2400" dirty="0">
                <a:latin typeface="コーポレート・ロゴ（ラウンド）ver3 Bold" panose="02000600000000000000" pitchFamily="50" charset="-128"/>
                <a:ea typeface="コーポレート・ロゴ（ラウンド）ver3 Bold" panose="02000600000000000000" pitchFamily="50" charset="-128"/>
              </a:rPr>
              <a:t>が</a:t>
            </a:r>
            <a:r>
              <a:rPr lang="ja-JP" altLang="en-US" sz="2400">
                <a:latin typeface="コーポレート・ロゴ（ラウンド）ver3 Bold" panose="02000600000000000000" pitchFamily="50" charset="-128"/>
                <a:ea typeface="コーポレート・ロゴ（ラウンド）ver3 Bold" panose="02000600000000000000" pitchFamily="50" charset="-128"/>
              </a:rPr>
              <a:t>入れるため，あまり長居は控えたほうが良いエリア</a:t>
            </a:r>
            <a:endParaRPr lang="en-US" altLang="ja-JP" sz="2400" dirty="0">
              <a:latin typeface="コーポレート・ロゴ（ラウンド）ver3 Bold" panose="02000600000000000000" pitchFamily="50" charset="-128"/>
              <a:ea typeface="コーポレート・ロゴ（ラウンド）ver3 Bold" panose="02000600000000000000" pitchFamily="50" charset="-128"/>
            </a:endParaRPr>
          </a:p>
          <a:p>
            <a:endParaRPr lang="en-US" altLang="ja-JP" sz="2400" dirty="0">
              <a:latin typeface="コーポレート・ロゴ（ラウンド）ver3 Bold" panose="02000600000000000000" pitchFamily="50" charset="-128"/>
              <a:ea typeface="コーポレート・ロゴ（ラウンド）ver3 Bold" panose="02000600000000000000" pitchFamily="50" charset="-128"/>
            </a:endParaRPr>
          </a:p>
          <a:p>
            <a:r>
              <a:rPr kumimoji="1" lang="ja-JP" altLang="en-US" sz="2400" dirty="0">
                <a:latin typeface="コーポレート・ロゴ（ラウンド）ver3 Bold" panose="02000600000000000000" pitchFamily="50" charset="-128"/>
                <a:ea typeface="コーポレート・ロゴ（ラウンド）ver3 Bold" panose="02000600000000000000" pitchFamily="50" charset="-128"/>
              </a:rPr>
              <a:t>②青チーム</a:t>
            </a:r>
            <a:r>
              <a:rPr kumimoji="1" lang="en-US" altLang="ja-JP" sz="2400" dirty="0">
                <a:latin typeface="コーポレート・ロゴ（ラウンド）ver3 Bold" panose="02000600000000000000" pitchFamily="50" charset="-128"/>
                <a:ea typeface="コーポレート・ロゴ（ラウンド）ver3 Bold" panose="02000600000000000000" pitchFamily="50" charset="-128"/>
              </a:rPr>
              <a:t>BR</a:t>
            </a:r>
            <a:r>
              <a:rPr kumimoji="1" lang="ja-JP" altLang="en-US" sz="2400" dirty="0">
                <a:latin typeface="コーポレート・ロゴ（ラウンド）ver3 Bold" panose="02000600000000000000" pitchFamily="50" charset="-128"/>
                <a:ea typeface="コーポレート・ロゴ（ラウンド）ver3 Bold" panose="02000600000000000000" pitchFamily="50" charset="-128"/>
              </a:rPr>
              <a:t> </a:t>
            </a:r>
            <a:r>
              <a:rPr kumimoji="1" lang="en-US" altLang="ja-JP" sz="2400" dirty="0">
                <a:latin typeface="コーポレート・ロゴ（ラウンド）ver3 Bold" panose="02000600000000000000" pitchFamily="50" charset="-128"/>
                <a:ea typeface="コーポレート・ロゴ（ラウンド）ver3 Bold" panose="02000600000000000000" pitchFamily="50" charset="-128"/>
              </a:rPr>
              <a:t>L2</a:t>
            </a:r>
            <a:r>
              <a:rPr kumimoji="1" lang="ja-JP" altLang="en-US" sz="2400" dirty="0">
                <a:latin typeface="コーポレート・ロゴ（ラウンド）ver3 Bold" panose="02000600000000000000" pitchFamily="50" charset="-128"/>
                <a:ea typeface="コーポレート・ロゴ（ラウンド）ver3 Bold" panose="02000600000000000000" pitchFamily="50" charset="-128"/>
              </a:rPr>
              <a:t>見渡し場所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ADA4A63E-856F-13AB-6A19-2B772B3E03FB}"/>
              </a:ext>
            </a:extLst>
          </p:cNvPr>
          <p:cNvSpPr txBox="1"/>
          <p:nvPr/>
        </p:nvSpPr>
        <p:spPr>
          <a:xfrm>
            <a:off x="2575593" y="3244334"/>
            <a:ext cx="4023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>
                <a:solidFill>
                  <a:schemeClr val="bg1"/>
                </a:solidFill>
                <a:latin typeface="コーポレート・ロゴ（ラウンド）ver3 Bold" panose="02000600000000000000" pitchFamily="50" charset="-128"/>
                <a:ea typeface="コーポレート・ロゴ（ラウンド）ver3 Bold" panose="02000600000000000000" pitchFamily="50" charset="-128"/>
              </a:rPr>
              <a:t>①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558DF5B0-6EE1-A826-8A22-2C42D96E6312}"/>
              </a:ext>
            </a:extLst>
          </p:cNvPr>
          <p:cNvSpPr txBox="1"/>
          <p:nvPr/>
        </p:nvSpPr>
        <p:spPr>
          <a:xfrm>
            <a:off x="3960981" y="3244334"/>
            <a:ext cx="4023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>
                <a:solidFill>
                  <a:schemeClr val="bg1"/>
                </a:solidFill>
                <a:latin typeface="コーポレート・ロゴ（ラウンド）ver3 Bold" panose="02000600000000000000" pitchFamily="50" charset="-128"/>
                <a:ea typeface="コーポレート・ロゴ（ラウンド）ver3 Bold" panose="02000600000000000000" pitchFamily="50" charset="-128"/>
              </a:rPr>
              <a:t>②</a:t>
            </a:r>
          </a:p>
        </p:txBody>
      </p:sp>
    </p:spTree>
    <p:extLst>
      <p:ext uri="{BB962C8B-B14F-4D97-AF65-F5344CB8AC3E}">
        <p14:creationId xmlns:p14="http://schemas.microsoft.com/office/powerpoint/2010/main" val="37675628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333</Words>
  <Application>Microsoft Office PowerPoint</Application>
  <PresentationFormat>ワイド画面</PresentationFormat>
  <Paragraphs>54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10" baseType="lpstr">
      <vt:lpstr>コーポレート・ロゴ（ラウンド）ver3 Bold</vt:lpstr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SASAHARA Sena</dc:creator>
  <cp:lastModifiedBy>SASAHARA Sena</cp:lastModifiedBy>
  <cp:revision>19</cp:revision>
  <dcterms:created xsi:type="dcterms:W3CDTF">2026-09-23T05:30:10Z</dcterms:created>
  <dcterms:modified xsi:type="dcterms:W3CDTF">2026-09-24T05:36:21Z</dcterms:modified>
</cp:coreProperties>
</file>